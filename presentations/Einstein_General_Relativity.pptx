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Learning Einstein's General Relativity Equation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58A6FF"/>
                </a:solidFill>
                <a:latin typeface="Cambria Math"/>
              </a:defRPr>
            </a:pPr>
            <a:r>
              <a:t>Gμν + Λ gμν = (8πG / c⁴) Tμν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3977639"/>
            <a:ext cx="6705295" cy="1905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4206240"/>
            <a:ext cx="85340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9D1D9"/>
                </a:solidFill>
                <a:latin typeface="Calibri"/>
              </a:defRPr>
            </a:pPr>
            <a:r>
              <a:t>In this presentation we'll display Einstein's field equation</a:t>
            </a:r>
          </a:p>
          <a:p>
            <a:pPr algn="ctr">
              <a:defRPr sz="2000">
                <a:solidFill>
                  <a:srgbClr val="C9D1D9"/>
                </a:solidFill>
                <a:latin typeface="Calibri"/>
              </a:defRPr>
            </a:pPr>
            <a:r>
              <a:t>as the 4×4 matrix equalling Gμν.</a:t>
            </a:r>
          </a:p>
          <a:p>
            <a:pPr>
              <a:defRPr sz="1000"/>
            </a:pPr>
          </a:p>
          <a:p>
            <a:pPr algn="ctr">
              <a:defRPr sz="2000">
                <a:solidFill>
                  <a:srgbClr val="C9D1D9"/>
                </a:solidFill>
                <a:latin typeface="Calibri"/>
              </a:defRPr>
            </a:pPr>
            <a:r>
              <a:t>Then we will discuss each variable in the equation to understand them.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instein_tensor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847" y="0"/>
            <a:ext cx="6858000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3832707" y="822959"/>
            <a:ext cx="1508760" cy="1371600"/>
          </a:xfrm>
          <a:prstGeom prst="ellipse">
            <a:avLst/>
          </a:prstGeom>
          <a:noFill/>
          <a:ln w="44450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303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7B72"/>
                </a:solidFill>
                <a:latin typeface="Calibri"/>
              </a:defRPr>
            </a:pPr>
            <a:r>
              <a:t>Einstein Tensor  —  Gμν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8521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9D1D9"/>
                </a:solidFill>
                <a:latin typeface="Calibri"/>
              </a:defRPr>
            </a:pPr>
            <a:r>
              <a:t>First, let's understand this variable.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